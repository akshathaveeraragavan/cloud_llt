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31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" y="109728"/>
            <a:ext cx="3639493" cy="4919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99801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1209543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3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21702"/>
            <a:ext cx="23774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54076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Big Data Case Study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from Ingestion to Intelligence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1874520"/>
            <a:ext cx="4754880" cy="0"/>
          </a:xfrm>
          <a:prstGeom prst="line">
            <a:avLst/>
          </a:prstGeom>
          <a:noFill/>
          <a:ln w="12700">
            <a:solidFill>
              <a:srgbClr val="028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0574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057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0574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057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57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20574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057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253288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532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53288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532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53288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32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253288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532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3703320"/>
            <a:ext cx="109728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TB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840480" y="4133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74920" y="3703320"/>
            <a:ext cx="109728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74920" y="4133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3703320"/>
            <a:ext cx="109728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09360" y="4133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43800" y="3703320"/>
            <a:ext cx="109728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543800" y="4133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View</a:t>
            </a:r>
            <a:endParaRPr lang="en-US" sz="900" dirty="0"/>
          </a:p>
        </p:txBody>
      </p:sp>
      <p:sp>
        <p:nvSpPr>
          <p:cNvPr id="42" name="Rectangular Callout 41"/>
          <p:cNvSpPr/>
          <p:nvPr/>
        </p:nvSpPr>
        <p:spPr>
          <a:xfrm>
            <a:off x="206419" y="2319723"/>
            <a:ext cx="1389707" cy="760211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RA2512051010007 – V.AKSHATHA – Data Engineering</a:t>
            </a:r>
          </a:p>
        </p:txBody>
      </p:sp>
      <p:sp>
        <p:nvSpPr>
          <p:cNvPr id="43" name="Rectangular Callout 42"/>
          <p:cNvSpPr/>
          <p:nvPr/>
        </p:nvSpPr>
        <p:spPr>
          <a:xfrm>
            <a:off x="2053325" y="3327904"/>
            <a:ext cx="1421395" cy="66453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RA2512052010009 – </a:t>
            </a:r>
            <a:r>
              <a:rPr lang="it-IT" sz="1100" dirty="0" smtClean="0"/>
              <a:t>SEPURI SAI SOWMYA- </a:t>
            </a:r>
            <a:r>
              <a:rPr lang="it-IT" sz="1100" dirty="0"/>
              <a:t>Data Science</a:t>
            </a:r>
          </a:p>
        </p:txBody>
      </p:sp>
      <p:sp>
        <p:nvSpPr>
          <p:cNvPr id="44" name="Rectangular Callout 43"/>
          <p:cNvSpPr/>
          <p:nvPr/>
        </p:nvSpPr>
        <p:spPr>
          <a:xfrm>
            <a:off x="1079699" y="4145755"/>
            <a:ext cx="1480092" cy="697343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RA2512052010043 – </a:t>
            </a:r>
          </a:p>
          <a:p>
            <a:pPr algn="ctr"/>
            <a:r>
              <a:rPr lang="en-IN" sz="1100" dirty="0" smtClean="0"/>
              <a:t>INDU </a:t>
            </a:r>
            <a:r>
              <a:rPr lang="en-IN" sz="1100" dirty="0"/>
              <a:t>- Data Science</a:t>
            </a:r>
          </a:p>
        </p:txBody>
      </p:sp>
      <p:sp>
        <p:nvSpPr>
          <p:cNvPr id="45" name="Rectangular Callout 44"/>
          <p:cNvSpPr/>
          <p:nvPr/>
        </p:nvSpPr>
        <p:spPr>
          <a:xfrm>
            <a:off x="206418" y="3310128"/>
            <a:ext cx="1389707" cy="665918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RA2512052010008 – K SAI </a:t>
            </a:r>
            <a:r>
              <a:rPr lang="en-US" sz="1100" dirty="0" smtClean="0"/>
              <a:t>MAHESHWARI </a:t>
            </a:r>
            <a:r>
              <a:rPr lang="en-US" sz="1100" dirty="0"/>
              <a:t>- Data Science</a:t>
            </a:r>
          </a:p>
        </p:txBody>
      </p:sp>
      <p:sp>
        <p:nvSpPr>
          <p:cNvPr id="46" name="Rectangular Callout 45"/>
          <p:cNvSpPr/>
          <p:nvPr/>
        </p:nvSpPr>
        <p:spPr>
          <a:xfrm>
            <a:off x="2055136" y="2319723"/>
            <a:ext cx="1419584" cy="732446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RA2512052010002 – LAKSHMI MANJUSHA –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728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critical challenges PRIOR faces daily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325880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258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Volume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76088" y="1728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TB/day across 4 source systems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21992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21992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21992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design &amp; data 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221992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221992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221992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6088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76088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Spark, HDFS, Hive code walkthrough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18104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18104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18104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" y="3163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with Spark MLlib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118104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118104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118104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76088" y="3163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/ MDM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76088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customer view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014216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014216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14216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1248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41248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+ Atlas + RBAC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014216"/>
            <a:ext cx="4206240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4014216"/>
            <a:ext cx="384048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014216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76088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Deployment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76088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project setup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PRIOR Needs Big Data?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35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01 – Slow Reporting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3794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queries take 6-8 hours. Business decisions delayed. Marketing campaigns miss their windows. Revenue impact: estimated ₹2Cr/month.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1480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35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02 – No Single Customer 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3794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scattered across CRM, e-commerce, social, mobile apps. No unified 360° profile. Personalization impossible.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11480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18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03 – Data Engineers Struggle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2102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pipeline. Manual ETL scripts break frequently. 40% engineering time spent on data firefighting, not innovation.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411480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0040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18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04 – Security Concerns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62102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column-level access control. PII (emails, phone) exposed to all roles. Audit trails missing. Compliance risk with PDPB.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– 2.8 TB / 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1965960" cy="3474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1965960" cy="43891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62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Logs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0A1628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TB/day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691640" cy="292608"/>
          </a:xfrm>
          <a:prstGeom prst="rect">
            <a:avLst/>
          </a:prstGeom>
          <a:solidFill>
            <a:srgbClr val="E8F4FD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23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834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clicks, searches, page views, session data, device type, IP address, search queries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325880"/>
            <a:ext cx="1965960" cy="3474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325880"/>
            <a:ext cx="196596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362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Transactions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1892808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0A1628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8928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GB/day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06040" y="2423160"/>
            <a:ext cx="1691640" cy="292608"/>
          </a:xfrm>
          <a:prstGeom prst="rect">
            <a:avLst/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423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2834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payments, returns, cancellations, UPI/card/COD, INR amounts, order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325880"/>
            <a:ext cx="1965960" cy="3474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325880"/>
            <a:ext cx="1965960" cy="43891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1362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Reviews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1892808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0A1628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928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GB/day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09160" y="2423160"/>
            <a:ext cx="1691640" cy="292608"/>
          </a:xfrm>
          <a:prstGeom prst="rect">
            <a:avLst/>
          </a:prstGeom>
          <a:solidFill>
            <a:srgbClr val="E8F4FD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423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2834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(1–5), review text, product images, verified purchase flag, timestamps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1325880"/>
            <a:ext cx="1965960" cy="3474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1325880"/>
            <a:ext cx="1965960" cy="4389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1362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12280" y="1892808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0A1628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18928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GB/day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812280" y="2423160"/>
            <a:ext cx="1691640" cy="292608"/>
          </a:xfrm>
          <a:prstGeom prst="rect">
            <a:avLst/>
          </a:prstGeom>
          <a:solidFill>
            <a:srgbClr val="E8F4F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423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84848" y="28346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Twitter/Instagram/Facebook posts, likes, shares, sentiment scores, brand mentions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TOTAL DAILY VOLUME: 2.8 TB/day  |  Structured + Semi-Structured + Unstructured  |  Kafka-Ingested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Big Data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1078992" cy="1280160"/>
          </a:xfrm>
          <a:prstGeom prst="rect">
            <a:avLst/>
          </a:prstGeom>
          <a:solidFill>
            <a:srgbClr val="1E3A5F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1078992" cy="2926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2494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Web·Txn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Reviews·Social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99032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1463040"/>
            <a:ext cx="1078992" cy="1280160"/>
          </a:xfrm>
          <a:prstGeom prst="rect">
            <a:avLst/>
          </a:prstGeom>
          <a:solidFill>
            <a:srgbClr val="1E3A5F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463040"/>
            <a:ext cx="107899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463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00200" y="181051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22494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79192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463040"/>
            <a:ext cx="1078992" cy="1280160"/>
          </a:xfrm>
          <a:prstGeom prst="rect">
            <a:avLst/>
          </a:prstGeom>
          <a:solidFill>
            <a:srgbClr val="1E3A5F"/>
          </a:solidFill>
          <a:ln w="25400">
            <a:solidFill>
              <a:srgbClr val="0288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463040"/>
            <a:ext cx="1078992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1463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80360" y="181051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880360" y="22494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59352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1463040"/>
            <a:ext cx="1078992" cy="1280160"/>
          </a:xfrm>
          <a:prstGeom prst="rect">
            <a:avLst/>
          </a:prstGeom>
          <a:solidFill>
            <a:srgbClr val="1E3A5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1463040"/>
            <a:ext cx="10789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1463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60520" y="181051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🏞️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60520" y="22494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39512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1463040"/>
            <a:ext cx="1078992" cy="12801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1463040"/>
            <a:ext cx="1078992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463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0680" y="181051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🐝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40680" y="22494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19672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1463040"/>
            <a:ext cx="1078992" cy="1280160"/>
          </a:xfrm>
          <a:prstGeom prst="rect">
            <a:avLst/>
          </a:prstGeom>
          <a:solidFill>
            <a:srgbClr val="1E3A5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0840" y="1463040"/>
            <a:ext cx="1078992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1463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20840" y="181051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20840" y="22494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99832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1463040"/>
            <a:ext cx="1078992" cy="1280160"/>
          </a:xfrm>
          <a:prstGeom prst="rect">
            <a:avLst/>
          </a:prstGeom>
          <a:solidFill>
            <a:srgbClr val="1E3A5F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1463040"/>
            <a:ext cx="1078992" cy="2926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1463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01000" y="181051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8001000" y="2249424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2944368"/>
            <a:ext cx="201168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Airflow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14600" y="2944368"/>
            <a:ext cx="201168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60604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Ranger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60604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RBAC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2944368"/>
            <a:ext cx="201168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5488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Atlas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75488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&amp; Lineage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12280" y="2944368"/>
            <a:ext cx="201168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90372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MDM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0372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/ Golden Record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3767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91840" y="41330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D7F32"/>
                </a:solidFill>
                <a:ea typeface="Calibri" pitchFamily="34" charset="-122"/>
                <a:cs typeface="Calibri" pitchFamily="34" charset="-120"/>
              </a:rPr>
              <a:t>🥉 BRONZE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D7F32"/>
                </a:solidFill>
                <a:ea typeface="Calibri" pitchFamily="34" charset="-122"/>
                <a:cs typeface="Calibri" pitchFamily="34" charset="-120"/>
              </a:rPr>
              <a:t>(Raw Data)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17720" y="41330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(Cleaned)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943600" y="41330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(Curated)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Data Lake – Bronze / Silver / Gold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51760" cy="3566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2651760" cy="54864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96596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Kafka streams stored as-is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format, partitioned by date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 applied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fidelity – data never deleted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90 days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51760" cy="3566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651760" cy="5486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Zone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96596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validated data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removed, types enforced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records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with Hive tables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1 year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3566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325880"/>
            <a:ext cx="2651760" cy="548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1627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Zone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196596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aggregations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summaries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(MDM)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for ML models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5 years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035808" y="3017520"/>
            <a:ext cx="164592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0448" y="3017520"/>
            <a:ext cx="164592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560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HDFS Path Structure:   /data/raw/YYYY/MM/DD/source/   →   /data/processed/   →   /data/curated/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KAFKA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– Apache Kafka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3774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9144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664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2TB/day  |  ~1M/hr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23774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75688"/>
            <a:ext cx="9144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21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414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500GB/day  |  ~200K/hr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23774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25496"/>
            <a:ext cx="9144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customer-reviews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1638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200GB/day  |  ~50K/hr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23774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75304"/>
            <a:ext cx="9144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social-media-feed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9136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100GB/day  |  ~30K/hr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0" y="1261872"/>
            <a:ext cx="5897880" cy="3611880"/>
          </a:xfrm>
          <a:prstGeom prst="rect">
            <a:avLst/>
          </a:prstGeom>
          <a:solidFill>
            <a:srgbClr val="0D1117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298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Kafka Producer – Python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1600200"/>
            <a:ext cx="5715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1664208"/>
            <a:ext cx="5669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kafka import KafkaProducer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datetime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 = KafkaProducer(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bootstrap_servers=['broker:9092'],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value_serializer=lambda v: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json.dumps(v).encode('utf-8')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Web-log event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'user_id': 'USR_8821',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'action': 'add_to_cart',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'product_id': 'PRD_42',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'timestamp': datetime.now().isoformat()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producer.send('web-logs', value=event)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producer.flush()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print("Event published to Kafka")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Topics  ·  3 Partitions each  ·  Replication Factor: 3  ·  Retention: 7 days</a:t>
            </a:r>
            <a:endParaRPr lang="en-US" sz="12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SPARK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 – Apache Spark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743200" cy="36118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processing (5s windows)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all 4 Kafka topics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derived columns (hour, device type)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real-time revenue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HDFS Bronze zone (Parquet)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late-arriving data (watermarks)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61872"/>
            <a:ext cx="5532120" cy="3657600"/>
          </a:xfrm>
          <a:prstGeom prst="rect">
            <a:avLst/>
          </a:prstGeom>
          <a:solidFill>
            <a:srgbClr val="0D1117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98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Spark Structured Streaming – PySpark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5349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64208"/>
            <a:ext cx="4502288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SparkSession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pyspark.sql.functions import *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= SparkSession.builder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.appName("PriorStreamProcessing")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.getOrCreate()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from Kafka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spark.readStream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.format("kafka")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.option("kafka.bootstrap.servers",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"broker:9092")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.option("subscribe", "transactions")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.load()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Parse &amp; transform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= df.selectExpr(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"CAST(value AS STRING)")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.select(from_json("value", schema)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.alias("data"))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.select("data.*")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.withColumn("revenue",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when(col("status")=="completed",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col("amount")).otherwise(0))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to HDFS Bronze (Parquet)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txn.writeStream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.format("parquet")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.option("path","/data/raw/transactions")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.option("checkpointLocation","/ckpt/txn")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.trigger(processingTime="5 seconds")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.start()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HIVE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– Apache Hive (ELT)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560320" cy="2606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256032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ETL (Old Approach)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BEFORE loading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 pipelines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re-process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schema coupling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560320" cy="2606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25603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533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ELT (PRIOR Approach)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792224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Load → Transform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raw first (Bronze)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on-demand in Hive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transforms anytime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flexibility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298448"/>
            <a:ext cx="2788920" cy="2651760"/>
          </a:xfrm>
          <a:prstGeom prst="rect">
            <a:avLst/>
          </a:prstGeom>
          <a:solidFill>
            <a:srgbClr val="0D1117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350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HiveQL Queries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651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09928"/>
            <a:ext cx="26517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EXTERNAL 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fact_transactions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    STRING,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STRING,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     DOUBLE,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STRING,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pay_method 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 AS PARQUET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'/data/processed/txn';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Daily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status,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AS revenue,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   AS orders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fact_transactions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status;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8412480" cy="749808"/>
          </a:xfrm>
          <a:prstGeom prst="rect">
            <a:avLst/>
          </a:prstGeom>
          <a:solidFill>
            <a:srgbClr val="EEF4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605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🌬️  Apache Airflow DAG – Pipeline Orchestration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16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Ingest → Spark Process → Bronze Write → Silver Clean → Hive Aggregate → MDM Golden Record → ML Retrain → Gold Write → Notify Slack   |   Schedule: @daily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– Spark MLlib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3200400" cy="36118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ML Features (Input)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9443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days_since_last_order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predictive feature – recency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29443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9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total_orders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engagement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660904"/>
            <a:ext cx="29443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88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avg_order_value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spending tier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099816"/>
            <a:ext cx="29443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27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total_returns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3284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Dissatisfaction signal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538728"/>
            <a:ext cx="29443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66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avg_rating_given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proxy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29443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social_mentions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engagement level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416552"/>
            <a:ext cx="29443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443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preferred_device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46451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Encoded: mobile/desktop/tablet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0" y="1298448"/>
            <a:ext cx="2286000" cy="36118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8620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Model Results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86200" y="1783080"/>
            <a:ext cx="2029968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77640" y="2048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86200" y="2404872"/>
            <a:ext cx="2029968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2432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77640" y="2670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86200" y="3026664"/>
            <a:ext cx="2029968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3054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86200" y="3648456"/>
            <a:ext cx="2029968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77640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88620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customers sample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1298448"/>
            <a:ext cx="2560320" cy="36118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550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Use Cases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55080" y="178308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30 days early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retention campaigns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discount offers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 fast-tracking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(returns)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/ MDM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Management – Single Customer 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2606040" cy="8412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438912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address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90088" y="1810512"/>
            <a:ext cx="50292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87168"/>
            <a:ext cx="2606040" cy="8412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438912" cy="8412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cart, wishlist, returns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0088" y="2907792"/>
            <a:ext cx="50292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84448"/>
            <a:ext cx="2606040" cy="8412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84448"/>
            <a:ext cx="438912" cy="8412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8444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3630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shares, sentiment, handles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90088" y="4005072"/>
            <a:ext cx="50292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3008" y="1572768"/>
            <a:ext cx="233172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GOLDEN RECORD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19751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Profile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84448" y="2231136"/>
            <a:ext cx="2057400" cy="0"/>
          </a:xfrm>
          <a:prstGeom prst="line">
            <a:avLst/>
          </a:prstGeom>
          <a:noFill/>
          <a:ln w="12700">
            <a:solidFill>
              <a:srgbClr val="0288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28600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golden_id (UUID)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email, phone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city, address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total_orders, AOV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(VIP/Regular)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churn_probability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preferred_device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33872" y="3035808"/>
            <a:ext cx="45720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417320"/>
            <a:ext cx="2377440" cy="594360"/>
          </a:xfrm>
          <a:prstGeom prst="rect">
            <a:avLst/>
          </a:prstGeom>
          <a:solidFill>
            <a:srgbClr val="EEF4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1481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NEW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19088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customers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2176272"/>
            <a:ext cx="2377440" cy="594360"/>
          </a:xfrm>
          <a:prstGeom prst="rect">
            <a:avLst/>
          </a:prstGeom>
          <a:solidFill>
            <a:srgbClr val="EEF4FB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OCCASIONAL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19088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customers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2935224"/>
            <a:ext cx="2377440" cy="594360"/>
          </a:xfrm>
          <a:prstGeom prst="rect">
            <a:avLst/>
          </a:prstGeom>
          <a:solidFill>
            <a:srgbClr val="EEF4FB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REGULAR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19088" y="3255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of customers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694176"/>
            <a:ext cx="2377440" cy="594360"/>
          </a:xfrm>
          <a:prstGeom prst="rect">
            <a:avLst/>
          </a:prstGeom>
          <a:solidFill>
            <a:srgbClr val="EEF4FB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3758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VIP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19088" y="4014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of customers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Stored in Gold Zone: /data/curated/golden_customer_records (Parquet, partitioned by segment)</a:t>
            </a:r>
            <a:endParaRPr lang="en-US" sz="1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Ranger + Atlas – RBAC &amp; Data Lineage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8412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350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3350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Zones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3350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Accessible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2120" y="13350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Fields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0920" y="13350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84124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8470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processed, curated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32120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6092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See policy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84124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377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2377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processed, curated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0" y="2377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fact_*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order_id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60920" y="2377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See policy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84124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907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48840" y="2907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only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0" y="2907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32120" y="2907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60920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See policy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346704"/>
            <a:ext cx="84124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3438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Vendor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34381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0" y="34381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32120" y="3438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60920" y="3438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See policy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841248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9867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Apache Atlas – Data Lineage Trail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26110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Kafka:web-logs → raw/web_logs_raw → processed/web_logs_clean → curated/daily_sessions  |  Kafka:transactions → raw/txn_raw → processed/txn_clean → curated/revenue → churn_model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Layer – Analytics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1627632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2697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 by Order 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51460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~₹9.2L 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&gt; pending &gt; returned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697480" cy="1627632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25880"/>
            <a:ext cx="2697480" cy="3474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 Methods Split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17465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011680"/>
            <a:ext cx="251460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057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28%, COD 22%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4597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dominant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1325880"/>
            <a:ext cx="2697480" cy="1627632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325880"/>
            <a:ext cx="269748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Customer Ratings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17465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251460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057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3.2 / 5.0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4597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reviews most common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2697480" cy="1627632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154680"/>
            <a:ext cx="269748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Sentiment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251460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positive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2885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sentiment leads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3154680"/>
            <a:ext cx="2697480" cy="1627632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3154680"/>
            <a:ext cx="269748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Churn Feature Importance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3756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H-Bar Chart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3840480"/>
            <a:ext cx="251460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 #1 feature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37560" y="42885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drives churn risk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3154680"/>
            <a:ext cx="2697480" cy="1627632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154680"/>
            <a:ext cx="269748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 Segments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1792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840480"/>
            <a:ext cx="251460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= 12% of base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17920" y="42885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segment largest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Tools: Matplotlib + Seaborn (local dev)  |  Apache Superset (self-hosted)  |  Power BI  |  Streamlit dashboards</a:t>
            </a:r>
            <a:endParaRPr lang="en-US" sz="12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&amp; File Organization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114800" cy="36576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prior-bigdata-pipeline/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931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ingestion/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kafka_producer.py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kafka_consumer.py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processing/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spark_stream_weblogs.py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spark_stream_txn.py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storage/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data_lake.py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warehouse/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hive_queries.sql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ml/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churn_model.py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mdm/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golden_record.py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security/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ranger_policies.py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atlas_catalog.py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airflow/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prior_dag.py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Prior_bigdata_pipeline.ipynb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350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kafka_producer.py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5636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&amp; publishes events to 4 Kafka topics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792224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spark_stream_*.py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Spark jobs reading from Kafka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322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hive_queries.sql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5511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+ analytical HiveQL queries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779776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816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churn_model.py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044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training &amp; evaluation pipeline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273552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ranger_policies.py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538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rules per role (Engineer/Analyst/Vendor)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767328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803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prior_dag.py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032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wiring all 18 pipeline tasks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4261104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*.ipynb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526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simulation runnable in Google Colab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Deployment – Local &amp; Cloud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3474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Local / Colab Setup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374904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36118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Clone repo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https://github.com/prior/bigdata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Install dependencies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Start Kafka (Docker)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kafka zookeeper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Run producer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ingestion/kafka_producer.py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Launch Spark job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spark-submit processing/spark_stream_txn.py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Or run full notebook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 to Google Colab → Run All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206240" cy="3474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25880"/>
            <a:ext cx="4206240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Deployment (AWS / GCP)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810512"/>
            <a:ext cx="393192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837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Amazon MSK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837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Cloud Pub/Sub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0391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Managed Kafka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249424"/>
            <a:ext cx="393192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2768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EMR (Spark)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22768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Dataproc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4780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Spark Cluster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688336"/>
            <a:ext cx="393192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15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S3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715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GCS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916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Lake (HDFS alt)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127248"/>
            <a:ext cx="393192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Redshift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BigQuery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355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Warehouse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393192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93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SageMaker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593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Vertex 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7947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 Training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4005072"/>
            <a:ext cx="393192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032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MWAA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0" y="4032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Cloud Composer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42336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Managed Airflow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full pipeline runs in Google Colab without any cloud setup 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PRIOR Solves All 4 Problems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84124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164592" cy="7498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Slow Reporting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Spark Streaming + Hive + Gold Zone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7922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dashboards. Queries run in &lt; 30 seconds vs 6-8 hours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16459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95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No Single Customer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295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MDM Golden Record + Customer 360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6426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profile: CRM + E-com + Social merged via email 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84124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90672"/>
            <a:ext cx="164592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Data Engineers Struggle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Airflow DAG + Standardized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4930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18-task automated DAG. Reusable Spark &amp; Kafka components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41064"/>
            <a:ext cx="84124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41064"/>
            <a:ext cx="164592" cy="7498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Security Concerns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Apache Ranger + Atlas RBAC + Masking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3434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masking. Role-based zones. Full data lineage audit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701827"/>
            <a:ext cx="8412480" cy="3474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20115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BENEFITS:   2.8 TB/day ingested in real-time   ·   93% churn prediction accuracy   ·   Single customer ID across all systems   ·   PDPB-ready data masking &amp; lineage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3474720" cy="4919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BIG DATA PIPELINE</a:t>
            </a:r>
            <a:endParaRPr lang="en-US" sz="1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0" y="182880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13632" y="190195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1883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 Sources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2157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TB/day via Kafka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91072" y="190195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1883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2157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ELT processing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256032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13632" y="263347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🏞️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2615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Bronze/Silver/Gold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on HDFS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56032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91072" y="263347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2615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 warehouse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329184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13632" y="336499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43400" y="3346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36210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accuracy churn model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9184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91072" y="336499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3346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MDM/Customer 360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36210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customer records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402336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13632" y="40965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43400" y="4078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+ Atlas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4352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data lineage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4023360"/>
            <a:ext cx="2240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91072" y="40965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20840" y="4078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4352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18-step orchestration</a:t>
            </a:r>
            <a:endParaRPr lang="en-US" sz="950" dirty="0"/>
          </a:p>
        </p:txBody>
      </p:sp>
      <p:pic>
        <p:nvPicPr>
          <p:cNvPr id="1026" name="Picture 2" descr="10 Reasons Why I'm Thankful for the Clou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118" y="313175"/>
            <a:ext cx="2223667" cy="12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1963</Words>
  <Application>Microsoft Office PowerPoint</Application>
  <PresentationFormat>On-screen Show (16:9)</PresentationFormat>
  <Paragraphs>517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 – Big Data Pipeline Architecture</dc:title>
  <dc:subject>PptxGenJS Presentation</dc:subject>
  <dc:creator>M.Tech Big Data Project</dc:creator>
  <cp:lastModifiedBy>Akshatha</cp:lastModifiedBy>
  <cp:revision>12</cp:revision>
  <dcterms:created xsi:type="dcterms:W3CDTF">2026-05-03T17:43:22Z</dcterms:created>
  <dcterms:modified xsi:type="dcterms:W3CDTF">2026-05-05T05:33:38Z</dcterms:modified>
</cp:coreProperties>
</file>